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4181F"/>
                </a:solidFill>
              </a:defRPr>
            </a:pPr>
            <a:r>
              <a:t>Voice Support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5A606E"/>
                </a:solidFill>
              </a:defRPr>
            </a:pPr>
            <a:r>
              <a:t>V1 scope and first architecture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4181F"/>
                </a:solidFill>
              </a:defRPr>
            </a:pPr>
            <a:r>
              <a:t>Voice assistant for explaining telecom invoice discrepancies.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600200"/>
            <a:ext cx="2423160" cy="2423160"/>
          </a:xfrm>
          <a:prstGeom prst="roundRect">
            <a:avLst/>
          </a:prstGeom>
          <a:solidFill>
            <a:srgbClr val="F4F7FC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233172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A60D4"/>
                </a:solidFill>
              </a:defRPr>
            </a:pPr>
            <a:r>
              <a:t>V1</a:t>
            </a:r>
          </a:p>
        </p:txBody>
      </p:sp>
      <p:pic>
        <p:nvPicPr>
          <p:cNvPr id="8" name="Picture 7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F"/>
                </a:solidFill>
              </a:defRPr>
            </a:pPr>
            <a:r>
              <a:t>V1 answers a simple customer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Why did my invoice increase?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42316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Compare two billing periods.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209544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136391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Return a clear, traceable voice explanation.</a:t>
            </a:r>
          </a:p>
        </p:txBody>
      </p:sp>
      <p:pic>
        <p:nvPicPr>
          <p:cNvPr id="9" name="Picture 8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F"/>
                </a:solidFill>
              </a:defRPr>
            </a:pPr>
            <a:r>
              <a:t>The first scope is deliberately focused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Invoice explanation before a general support chatbot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42316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Channels: phone and web voice chat.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209544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136391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Value: explain deltas using BSS-backed evidence.</a:t>
            </a:r>
          </a:p>
        </p:txBody>
      </p:sp>
      <p:pic>
        <p:nvPicPr>
          <p:cNvPr id="9" name="Picture 8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F"/>
                </a:solidFill>
              </a:defRPr>
            </a:pPr>
            <a:r>
              <a:t>AI formulates, the engine calculates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Reliability before fluency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42316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The BSS remains the source of truth.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209544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136391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The LLM never calculates invoice amounts from PDFs.</a:t>
            </a:r>
          </a:p>
        </p:txBody>
      </p:sp>
      <p:pic>
        <p:nvPicPr>
          <p:cNvPr id="9" name="Picture 8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F"/>
                </a:solidFill>
              </a:defRPr>
            </a:pPr>
            <a:r>
              <a:t>Target voice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Real-time voice path separated from business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417320" cy="566928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Web / 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743200"/>
            <a:ext cx="1417320" cy="566928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Pipecat</a:t>
            </a:r>
            <a:br/>
            <a:r>
              <a:t>+ Gradium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43200"/>
            <a:ext cx="1417320" cy="566928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Java</a:t>
            </a:r>
            <a:br/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57400"/>
            <a:ext cx="1417320" cy="566928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BSS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429000"/>
            <a:ext cx="1417320" cy="566928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RAG</a:t>
            </a:r>
            <a:br/>
            <a:r>
              <a:t>PgVector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743200"/>
            <a:ext cx="1417320" cy="566928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Mistral</a:t>
            </a:r>
            <a:br/>
            <a: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417320" cy="566928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Voice</a:t>
            </a:r>
            <a:br/>
            <a:r>
              <a:t>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026664"/>
            <a:ext cx="365760" cy="0"/>
          </a:xfrm>
          <a:prstGeom prst="line">
            <a:avLst/>
          </a:prstGeom>
          <a:ln w="19050">
            <a:solidFill>
              <a:srgbClr val="2A6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3026664"/>
            <a:ext cx="411480" cy="0"/>
          </a:xfrm>
          <a:prstGeom prst="line">
            <a:avLst/>
          </a:prstGeom>
          <a:ln w="19050">
            <a:solidFill>
              <a:srgbClr val="2A6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760720" y="2331720"/>
            <a:ext cx="411480" cy="640080"/>
          </a:xfrm>
          <a:prstGeom prst="line">
            <a:avLst/>
          </a:prstGeom>
          <a:ln w="19050">
            <a:solidFill>
              <a:srgbClr val="228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3090672"/>
            <a:ext cx="411480" cy="612648"/>
          </a:xfrm>
          <a:prstGeom prst="line">
            <a:avLst/>
          </a:prstGeom>
          <a:ln w="19050">
            <a:solidFill>
              <a:srgbClr val="228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9520" y="2340864"/>
            <a:ext cx="411480" cy="630936"/>
          </a:xfrm>
          <a:prstGeom prst="line">
            <a:avLst/>
          </a:prstGeom>
          <a:ln w="19050">
            <a:solidFill>
              <a:srgbClr val="DD84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8320" y="3026664"/>
            <a:ext cx="411480" cy="0"/>
          </a:xfrm>
          <a:prstGeom prst="line">
            <a:avLst/>
          </a:prstGeom>
          <a:ln w="19050">
            <a:solidFill>
              <a:srgbClr val="2A6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8006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The voice path stays real-time while the backend keeps deterministic business reasoning and evidence.</a:t>
            </a:r>
          </a:p>
        </p:txBody>
      </p:sp>
      <p:pic>
        <p:nvPicPr>
          <p:cNvPr id="19" name="Picture 18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F"/>
                </a:solidFill>
              </a:defRPr>
            </a:pPr>
            <a:r>
              <a:t>Billing explanation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Deterministic comparison before response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417320" cy="594360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billing-api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788920"/>
            <a:ext cx="1417320" cy="594360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Invoice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788920"/>
            <a:ext cx="1417320" cy="594360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Extracted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88920"/>
            <a:ext cx="1417320" cy="594360"/>
          </a:xfrm>
          <a:prstGeom prst="roundRect">
            <a:avLst/>
          </a:prstGeom>
          <a:solidFill>
            <a:srgbClr val="E8F6EF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788920"/>
            <a:ext cx="1417320" cy="594360"/>
          </a:xfrm>
          <a:prstGeom prst="roundRect">
            <a:avLst/>
          </a:prstGeom>
          <a:solidFill>
            <a:srgbClr val="F4F7FC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81F"/>
                </a:solidFill>
              </a:defRPr>
            </a:pPr>
            <a:r>
              <a:t>LLM wording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081527"/>
            <a:ext cx="502920" cy="0"/>
          </a:xfrm>
          <a:prstGeom prst="line">
            <a:avLst/>
          </a:prstGeom>
          <a:ln w="19050">
            <a:solidFill>
              <a:srgbClr val="2A6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60520" y="3081527"/>
            <a:ext cx="502920" cy="0"/>
          </a:xfrm>
          <a:prstGeom prst="line">
            <a:avLst/>
          </a:prstGeom>
          <a:ln w="19050">
            <a:solidFill>
              <a:srgbClr val="2A6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59" y="3081527"/>
            <a:ext cx="502921" cy="0"/>
          </a:xfrm>
          <a:prstGeom prst="line">
            <a:avLst/>
          </a:prstGeom>
          <a:ln w="19050">
            <a:solidFill>
              <a:srgbClr val="2A6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01000" y="3081527"/>
            <a:ext cx="502920" cy="0"/>
          </a:xfrm>
          <a:prstGeom prst="line">
            <a:avLst/>
          </a:prstGeom>
          <a:ln w="19050">
            <a:solidFill>
              <a:srgbClr val="DD84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" y="416052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The LLM receives structured results and evidence; it does not read PDFs to calculate amounts.</a:t>
            </a:r>
          </a:p>
        </p:txBody>
      </p:sp>
      <p:pic>
        <p:nvPicPr>
          <p:cNvPr id="15" name="Picture 14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F"/>
                </a:solidFill>
              </a:defRPr>
            </a:pPr>
            <a:r>
              <a:t>Platform choices keep the system extensible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Billing is the first domain, not the product boundary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42316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Java owns RAG, comparison, and evidence handling.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209544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136391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Providers for LLM, STT, and TTS stay configurable.</a:t>
            </a:r>
          </a:p>
        </p:txBody>
      </p:sp>
      <p:pic>
        <p:nvPicPr>
          <p:cNvPr id="9" name="Picture 8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81F"/>
                </a:solidFill>
              </a:defRPr>
            </a:pPr>
            <a:r>
              <a:t>Validate the Galaxion contract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533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606E"/>
                </a:solidFill>
              </a:defRPr>
            </a:pPr>
            <a:r>
              <a:t>Secure the data contract before industrialization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42316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Collect anonymized invoices and linked metadata.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209544"/>
            <a:ext cx="109728" cy="109728"/>
          </a:xfrm>
          <a:prstGeom prst="ellipse">
            <a:avLst/>
          </a:prstGeom>
          <a:solidFill>
            <a:srgbClr val="2A6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136391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181F"/>
                </a:solidFill>
              </a:defRPr>
            </a:pPr>
            <a:r>
              <a:t>Build a compatible BSS mock, then one end-to-end scenario.</a:t>
            </a:r>
          </a:p>
        </p:txBody>
      </p:sp>
      <p:pic>
        <p:nvPicPr>
          <p:cNvPr id="9" name="Picture 8" descr="template-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E"/>
                </a:solidFill>
              </a:defRPr>
            </a:pPr>
            <a:r>
              <a:t>Voice Support Bot · V1 Project ·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